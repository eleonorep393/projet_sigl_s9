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8497" autoAdjust="0"/>
  </p:normalViewPr>
  <p:slideViewPr>
    <p:cSldViewPr snapToGrid="0">
      <p:cViewPr varScale="1">
        <p:scale>
          <a:sx n="56" d="100"/>
          <a:sy n="56" d="100"/>
        </p:scale>
        <p:origin x="168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FED5BA-93E7-4C86-913B-D9750C4FF872}" type="datetimeFigureOut">
              <a:rPr lang="fr-FR" smtClean="0"/>
              <a:t>16/01/2026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A75A67-0247-43AF-8231-85D14CF3880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3082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RNN : </a:t>
            </a:r>
            <a:r>
              <a:rPr lang="fr-FR" dirty="0" err="1"/>
              <a:t>Recurrent</a:t>
            </a:r>
            <a:r>
              <a:rPr lang="fr-FR" dirty="0"/>
              <a:t> Neural Network, réseau de neurones avec une boucle</a:t>
            </a:r>
          </a:p>
          <a:p>
            <a:r>
              <a:rPr lang="fr-FR" dirty="0"/>
              <a:t>LSTM possède une mémoire à long terme</a:t>
            </a:r>
          </a:p>
          <a:p>
            <a:endParaRPr lang="fr-FR" dirty="0"/>
          </a:p>
          <a:p>
            <a:r>
              <a:rPr lang="fr-FR" dirty="0"/>
              <a:t>4 couches</a:t>
            </a:r>
          </a:p>
          <a:p>
            <a:endParaRPr lang="fr-FR" dirty="0"/>
          </a:p>
          <a:p>
            <a:r>
              <a:rPr lang="fr-FR" dirty="0" err="1"/>
              <a:t>Embedding</a:t>
            </a:r>
            <a:r>
              <a:rPr lang="fr-FR" dirty="0"/>
              <a:t> : Attribution des vecteurs aux mots représentant la sémantique. Sens proche, vecteur proche. Début : vecteur aléatoire, valeurs affinées au fil du temps (</a:t>
            </a:r>
            <a:r>
              <a:rPr lang="fr-FR" dirty="0" err="1"/>
              <a:t>embed_dim</a:t>
            </a:r>
            <a:r>
              <a:rPr lang="fr-FR" dirty="0"/>
              <a:t> = 128 ou 64)</a:t>
            </a:r>
          </a:p>
          <a:p>
            <a:endParaRPr lang="fr-FR" dirty="0"/>
          </a:p>
          <a:p>
            <a:r>
              <a:rPr lang="fr-FR" dirty="0"/>
              <a:t>Mémoire : Partie ou le </a:t>
            </a:r>
            <a:r>
              <a:rPr lang="fr-FR" dirty="0" err="1"/>
              <a:t>reseau</a:t>
            </a:r>
            <a:r>
              <a:rPr lang="fr-FR" dirty="0"/>
              <a:t> de </a:t>
            </a:r>
            <a:r>
              <a:rPr lang="fr-FR" dirty="0" err="1"/>
              <a:t>neuronne</a:t>
            </a:r>
            <a:r>
              <a:rPr lang="fr-FR" dirty="0"/>
              <a:t> s’entraine à présenter le contexte expliquer après</a:t>
            </a:r>
          </a:p>
          <a:p>
            <a:endParaRPr lang="fr-FR" dirty="0"/>
          </a:p>
          <a:p>
            <a:r>
              <a:rPr lang="fr-FR" dirty="0"/>
              <a:t>Dropout : Pour contrer l’</a:t>
            </a:r>
            <a:r>
              <a:rPr lang="fr-FR" dirty="0" err="1"/>
              <a:t>overfitting</a:t>
            </a:r>
            <a:r>
              <a:rPr lang="fr-FR" dirty="0"/>
              <a:t> : Mets aléatoirement des neurones du tenseur d’entrée à 0, la proba est défini par un paramètre d’entrée (0,3)</a:t>
            </a:r>
          </a:p>
          <a:p>
            <a:endParaRPr lang="fr-FR" dirty="0"/>
          </a:p>
          <a:p>
            <a:r>
              <a:rPr lang="fr-FR" dirty="0"/>
              <a:t>Linéaire : Transformation linéaire des données pour convertir en proba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A75A67-0247-43AF-8231-85D14CF38807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15322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On récupère le texte</a:t>
            </a:r>
          </a:p>
          <a:p>
            <a:r>
              <a:rPr lang="fr-FR" dirty="0" err="1"/>
              <a:t>TextDataset</a:t>
            </a:r>
            <a:r>
              <a:rPr lang="fr-FR" dirty="0"/>
              <a:t> le transforme en liste de mot</a:t>
            </a:r>
          </a:p>
          <a:p>
            <a:r>
              <a:rPr lang="fr-FR" dirty="0" err="1"/>
              <a:t>Vocabulary</a:t>
            </a:r>
            <a:r>
              <a:rPr lang="fr-FR" dirty="0"/>
              <a:t> transforme les mots en vecteur aléatoire</a:t>
            </a:r>
          </a:p>
          <a:p>
            <a:endParaRPr lang="fr-FR" dirty="0"/>
          </a:p>
          <a:p>
            <a:r>
              <a:rPr lang="fr-FR" dirty="0"/>
              <a:t>On définit le LSTM et ses méthodes</a:t>
            </a:r>
          </a:p>
          <a:p>
            <a:endParaRPr lang="fr-FR" dirty="0"/>
          </a:p>
          <a:p>
            <a:r>
              <a:rPr lang="fr-FR" dirty="0"/>
              <a:t>Fonctions pour entrainer le modèle</a:t>
            </a:r>
          </a:p>
          <a:p>
            <a:endParaRPr lang="fr-FR" dirty="0"/>
          </a:p>
          <a:p>
            <a:r>
              <a:rPr lang="fr-FR" dirty="0"/>
              <a:t>Script pour générer du texte (</a:t>
            </a:r>
            <a:r>
              <a:rPr lang="fr-FR" dirty="0" err="1"/>
              <a:t>Greedy</a:t>
            </a:r>
            <a:r>
              <a:rPr lang="fr-FR" dirty="0"/>
              <a:t> : prend la plus haute proba, Sampling : prend une valeur en fonction de sa probabilité de sortir. La température </a:t>
            </a:r>
            <a:r>
              <a:rPr lang="fr-FR" dirty="0" err="1"/>
              <a:t>applati</a:t>
            </a:r>
            <a:r>
              <a:rPr lang="fr-FR" dirty="0"/>
              <a:t> les probas (si faible, plus d’aléatoire)</a:t>
            </a:r>
          </a:p>
          <a:p>
            <a:r>
              <a:rPr lang="fr-FR" dirty="0"/>
              <a:t>Puis calcul des métriques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A75A67-0247-43AF-8231-85D14CF38807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374130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Loss</a:t>
            </a:r>
            <a:r>
              <a:rPr lang="fr-FR" dirty="0"/>
              <a:t> et </a:t>
            </a:r>
            <a:r>
              <a:rPr lang="fr-FR" dirty="0" err="1"/>
              <a:t>perpléxity</a:t>
            </a:r>
            <a:r>
              <a:rPr lang="fr-FR" dirty="0"/>
              <a:t> qui descendent</a:t>
            </a:r>
          </a:p>
          <a:p>
            <a:endParaRPr lang="fr-FR" dirty="0"/>
          </a:p>
          <a:p>
            <a:r>
              <a:rPr lang="fr-FR" dirty="0"/>
              <a:t>Pas de surentrainement car dropout pour l’éviter</a:t>
            </a:r>
          </a:p>
          <a:p>
            <a:endParaRPr lang="fr-FR" dirty="0"/>
          </a:p>
          <a:p>
            <a:r>
              <a:rPr lang="fr-FR" dirty="0"/>
              <a:t>Descente de gradient qui nous a permit d’obtenir un meilleur résultat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A75A67-0247-43AF-8231-85D14CF38807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253158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1D04C-6826-9B9D-994C-272C121F7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E62EA9-B90E-7D2E-BA20-6DCB191A48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5F0678-11DB-D6E7-BD84-7FC50FC394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On voit que le </a:t>
            </a:r>
            <a:r>
              <a:rPr lang="fr-FR" dirty="0" err="1"/>
              <a:t>dataset</a:t>
            </a:r>
            <a:r>
              <a:rPr lang="fr-FR" dirty="0"/>
              <a:t> répété 200 fois donne de très mauvais résultat en diversité et une </a:t>
            </a:r>
            <a:r>
              <a:rPr lang="fr-FR" dirty="0" err="1"/>
              <a:t>loss</a:t>
            </a:r>
            <a:r>
              <a:rPr lang="fr-FR" dirty="0"/>
              <a:t> et perplexité </a:t>
            </a:r>
            <a:r>
              <a:rPr lang="fr-FR" dirty="0" err="1"/>
              <a:t>etrange</a:t>
            </a:r>
            <a:r>
              <a:rPr lang="fr-FR" dirty="0"/>
              <a:t> : résultat pas compris</a:t>
            </a:r>
          </a:p>
          <a:p>
            <a:endParaRPr lang="fr-FR" dirty="0"/>
          </a:p>
          <a:p>
            <a:r>
              <a:rPr lang="fr-FR" dirty="0"/>
              <a:t>Pour le mode de diversité et le nombre d’</a:t>
            </a:r>
            <a:r>
              <a:rPr lang="fr-FR" dirty="0" err="1"/>
              <a:t>époch</a:t>
            </a:r>
            <a:r>
              <a:rPr lang="fr-FR" dirty="0"/>
              <a:t>, on va se concentrer sur les résultats de </a:t>
            </a:r>
            <a:r>
              <a:rPr lang="fr-FR" dirty="0" err="1"/>
              <a:t>frankenstein</a:t>
            </a:r>
            <a:endParaRPr lang="fr-FR" dirty="0"/>
          </a:p>
          <a:p>
            <a:endParaRPr lang="fr-FR" dirty="0"/>
          </a:p>
          <a:p>
            <a:r>
              <a:rPr lang="fr-FR" dirty="0"/>
              <a:t>1,2 = température</a:t>
            </a:r>
          </a:p>
          <a:p>
            <a:endParaRPr lang="fr-FR" dirty="0"/>
          </a:p>
          <a:p>
            <a:r>
              <a:rPr lang="fr-FR" dirty="0"/>
              <a:t>On doit éviter le </a:t>
            </a:r>
            <a:r>
              <a:rPr lang="fr-FR" dirty="0" err="1"/>
              <a:t>greedy</a:t>
            </a:r>
            <a:r>
              <a:rPr lang="fr-FR" dirty="0"/>
              <a:t> qui offre très peu de possibilité et éviter une température trop basse</a:t>
            </a:r>
          </a:p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F40C6D-64B2-E1A3-B81E-FD6B8CF4E7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A75A67-0247-43AF-8231-85D14CF38807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840455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T = température, plus elle est basse, plus les mots sortis sont aléatoires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A75A67-0247-43AF-8231-85D14CF38807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371451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A75A67-0247-43AF-8231-85D14CF38807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1951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4C210EF-05DA-49B0-9268-910BEDEC7DA2}" type="datetimeFigureOut">
              <a:rPr lang="fr-FR" smtClean="0"/>
              <a:t>16/01/2026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4E1BF6D4-9050-4FAB-BA0E-4D3E39D0E2F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39966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210EF-05DA-49B0-9268-910BEDEC7DA2}" type="datetimeFigureOut">
              <a:rPr lang="fr-FR" smtClean="0"/>
              <a:t>16/01/2026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BF6D4-9050-4FAB-BA0E-4D3E39D0E2F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89748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4C210EF-05DA-49B0-9268-910BEDEC7DA2}" type="datetimeFigureOut">
              <a:rPr lang="fr-FR" smtClean="0"/>
              <a:t>16/01/2026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E1BF6D4-9050-4FAB-BA0E-4D3E39D0E2F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9314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210EF-05DA-49B0-9268-910BEDEC7DA2}" type="datetimeFigureOut">
              <a:rPr lang="fr-FR" smtClean="0"/>
              <a:t>16/01/2026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BF6D4-9050-4FAB-BA0E-4D3E39D0E2F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9739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210EF-05DA-49B0-9268-910BEDEC7DA2}" type="datetimeFigureOut">
              <a:rPr lang="fr-FR" smtClean="0"/>
              <a:t>16/01/2026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BF6D4-9050-4FAB-BA0E-4D3E39D0E2F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7246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210EF-05DA-49B0-9268-910BEDEC7DA2}" type="datetimeFigureOut">
              <a:rPr lang="fr-FR" smtClean="0"/>
              <a:t>16/01/2026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BF6D4-9050-4FAB-BA0E-4D3E39D0E2F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32452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210EF-05DA-49B0-9268-910BEDEC7DA2}" type="datetimeFigureOut">
              <a:rPr lang="fr-FR" smtClean="0"/>
              <a:t>16/01/2026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BF6D4-9050-4FAB-BA0E-4D3E39D0E2F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26649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210EF-05DA-49B0-9268-910BEDEC7DA2}" type="datetimeFigureOut">
              <a:rPr lang="fr-FR" smtClean="0"/>
              <a:t>16/01/2026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BF6D4-9050-4FAB-BA0E-4D3E39D0E2F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7026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210EF-05DA-49B0-9268-910BEDEC7DA2}" type="datetimeFigureOut">
              <a:rPr lang="fr-FR" smtClean="0"/>
              <a:t>16/01/2026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BF6D4-9050-4FAB-BA0E-4D3E39D0E2F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9280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210EF-05DA-49B0-9268-910BEDEC7DA2}" type="datetimeFigureOut">
              <a:rPr lang="fr-FR" smtClean="0"/>
              <a:t>16/01/2026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BF6D4-9050-4FAB-BA0E-4D3E39D0E2F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1949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4C210EF-05DA-49B0-9268-910BEDEC7DA2}" type="datetimeFigureOut">
              <a:rPr lang="fr-FR" smtClean="0"/>
              <a:t>16/01/2026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E1BF6D4-9050-4FAB-BA0E-4D3E39D0E2F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0763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4C210EF-05DA-49B0-9268-910BEDEC7DA2}" type="datetimeFigureOut">
              <a:rPr lang="fr-FR" smtClean="0"/>
              <a:t>16/01/2026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E1BF6D4-9050-4FAB-BA0E-4D3E39D0E2F3}" type="slidenum">
              <a:rPr lang="fr-FR" smtClean="0"/>
              <a:t>‹#›</a:t>
            </a:fld>
            <a:endParaRPr lang="fr-FR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366933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4C210EF-05DA-49B0-9268-910BEDEC7DA2}" type="datetimeFigureOut">
              <a:rPr lang="fr-FR" smtClean="0"/>
              <a:t>16/01/2026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E1BF6D4-9050-4FAB-BA0E-4D3E39D0E2F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62536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210EF-05DA-49B0-9268-910BEDEC7DA2}" type="datetimeFigureOut">
              <a:rPr lang="fr-FR" smtClean="0"/>
              <a:t>16/01/2026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BF6D4-9050-4FAB-BA0E-4D3E39D0E2F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7381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210EF-05DA-49B0-9268-910BEDEC7DA2}" type="datetimeFigureOut">
              <a:rPr lang="fr-FR" smtClean="0"/>
              <a:t>16/01/2026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BF6D4-9050-4FAB-BA0E-4D3E39D0E2F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89756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210EF-05DA-49B0-9268-910BEDEC7DA2}" type="datetimeFigureOut">
              <a:rPr lang="fr-FR" smtClean="0"/>
              <a:t>16/01/2026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BF6D4-9050-4FAB-BA0E-4D3E39D0E2F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87805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4C210EF-05DA-49B0-9268-910BEDEC7DA2}" type="datetimeFigureOut">
              <a:rPr lang="fr-FR" smtClean="0"/>
              <a:t>16/01/2026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E1BF6D4-9050-4FAB-BA0E-4D3E39D0E2F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6871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C210EF-05DA-49B0-9268-910BEDEC7DA2}" type="datetimeFigureOut">
              <a:rPr lang="fr-FR" smtClean="0"/>
              <a:t>16/01/2026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1BF6D4-9050-4FAB-BA0E-4D3E39D0E2F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104271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11FD4E-1437-1728-CE29-445F517BE3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Projet </a:t>
            </a:r>
            <a:r>
              <a:rPr lang="fr-FR" dirty="0" err="1"/>
              <a:t>iaa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7D2A61C-653F-6612-F6A7-98D6F421C0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dirty="0"/>
              <a:t>Cléo </a:t>
            </a:r>
            <a:r>
              <a:rPr lang="fr-FR" dirty="0" err="1"/>
              <a:t>Marguerettaz</a:t>
            </a:r>
            <a:endParaRPr lang="fr-FR" dirty="0"/>
          </a:p>
          <a:p>
            <a:r>
              <a:rPr lang="fr-FR" dirty="0"/>
              <a:t>Damien Nguyen</a:t>
            </a:r>
          </a:p>
        </p:txBody>
      </p:sp>
    </p:spTree>
    <p:extLst>
      <p:ext uri="{BB962C8B-B14F-4D97-AF65-F5344CB8AC3E}">
        <p14:creationId xmlns:p14="http://schemas.microsoft.com/office/powerpoint/2010/main" val="40934797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FA0B9FB-776F-7F12-7AD8-31C974722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LSTM : Générer du texte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CD75D96-A271-2AD3-7E77-B069897572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463157"/>
            <a:ext cx="10820400" cy="1631216"/>
          </a:xfrm>
        </p:spPr>
        <p:txBody>
          <a:bodyPr/>
          <a:lstStyle/>
          <a:p>
            <a:r>
              <a:rPr lang="fr-FR" dirty="0"/>
              <a:t>Un RNN à laquelle on ajoute une mémoire long terme</a:t>
            </a:r>
          </a:p>
          <a:p>
            <a:pPr marL="0" indent="0">
              <a:buNone/>
            </a:pPr>
            <a:endParaRPr lang="fr-FR" dirty="0"/>
          </a:p>
          <a:p>
            <a:r>
              <a:rPr lang="fr-FR" dirty="0"/>
              <a:t>Fonctionne avec quatre couches principales 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3B53E6-9D1A-09DA-D65F-076F1EE281FA}"/>
              </a:ext>
            </a:extLst>
          </p:cNvPr>
          <p:cNvSpPr txBox="1"/>
          <p:nvPr/>
        </p:nvSpPr>
        <p:spPr>
          <a:xfrm>
            <a:off x="1774664" y="4187074"/>
            <a:ext cx="201327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 err="1"/>
              <a:t>Embedding</a:t>
            </a:r>
            <a:endParaRPr lang="fr-FR" sz="2000" b="1" dirty="0"/>
          </a:p>
          <a:p>
            <a:pPr algn="ctr"/>
            <a:endParaRPr lang="fr-FR" sz="2000" dirty="0"/>
          </a:p>
          <a:p>
            <a:pPr algn="ctr"/>
            <a:r>
              <a:rPr lang="fr-FR" sz="2000" dirty="0"/>
              <a:t>Attribution des vecteurs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9CE945-BE13-A1AB-8DEA-37BD4F59574B}"/>
              </a:ext>
            </a:extLst>
          </p:cNvPr>
          <p:cNvSpPr txBox="1"/>
          <p:nvPr/>
        </p:nvSpPr>
        <p:spPr>
          <a:xfrm>
            <a:off x="3984464" y="4187073"/>
            <a:ext cx="201327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/>
              <a:t>Mémoire</a:t>
            </a:r>
          </a:p>
          <a:p>
            <a:pPr algn="ctr"/>
            <a:endParaRPr lang="fr-FR" sz="2000" dirty="0"/>
          </a:p>
          <a:p>
            <a:pPr algn="ctr"/>
            <a:r>
              <a:rPr lang="fr-FR" sz="2000" dirty="0"/>
              <a:t>Mémorise le contexte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F4ED76-A09E-1FE4-84D7-E6895546FEC4}"/>
              </a:ext>
            </a:extLst>
          </p:cNvPr>
          <p:cNvSpPr txBox="1"/>
          <p:nvPr/>
        </p:nvSpPr>
        <p:spPr>
          <a:xfrm>
            <a:off x="6194264" y="4187072"/>
            <a:ext cx="201327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/>
              <a:t>Dropout</a:t>
            </a:r>
          </a:p>
          <a:p>
            <a:pPr algn="ctr"/>
            <a:endParaRPr lang="fr-FR" sz="2000" dirty="0"/>
          </a:p>
          <a:p>
            <a:pPr algn="ctr"/>
            <a:r>
              <a:rPr lang="fr-FR" sz="2000" dirty="0"/>
              <a:t>Contre l’</a:t>
            </a:r>
            <a:r>
              <a:rPr lang="fr-FR" sz="2000" dirty="0" err="1"/>
              <a:t>overfitting</a:t>
            </a:r>
            <a:endParaRPr lang="fr-FR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2E6400-445C-6BF0-7B86-46682442261D}"/>
              </a:ext>
            </a:extLst>
          </p:cNvPr>
          <p:cNvSpPr txBox="1"/>
          <p:nvPr/>
        </p:nvSpPr>
        <p:spPr>
          <a:xfrm>
            <a:off x="8404064" y="4187072"/>
            <a:ext cx="201327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/>
              <a:t>linéaire</a:t>
            </a:r>
          </a:p>
          <a:p>
            <a:pPr algn="ctr"/>
            <a:endParaRPr lang="fr-FR" sz="2000" dirty="0"/>
          </a:p>
          <a:p>
            <a:pPr algn="ctr"/>
            <a:r>
              <a:rPr lang="fr-FR" sz="2000" dirty="0"/>
              <a:t>Transforme les poids en probabilité</a:t>
            </a:r>
          </a:p>
        </p:txBody>
      </p:sp>
    </p:spTree>
    <p:extLst>
      <p:ext uri="{BB962C8B-B14F-4D97-AF65-F5344CB8AC3E}">
        <p14:creationId xmlns:p14="http://schemas.microsoft.com/office/powerpoint/2010/main" val="2296868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D70824-25E0-EED8-4A4A-F1BB60526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Principes mathématiques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0BDBC91-E043-AE19-6AB4-DB03224E86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Fonctionnement du LSTM : </a:t>
            </a:r>
          </a:p>
          <a:p>
            <a:endParaRPr lang="fr-FR" dirty="0"/>
          </a:p>
          <a:p>
            <a:r>
              <a:rPr lang="fr-FR" dirty="0"/>
              <a:t>Couche « Forget </a:t>
            </a:r>
            <a:r>
              <a:rPr lang="fr-FR" dirty="0" err="1"/>
              <a:t>gate</a:t>
            </a:r>
            <a:r>
              <a:rPr lang="fr-FR" dirty="0"/>
              <a:t> »</a:t>
            </a:r>
          </a:p>
          <a:p>
            <a:endParaRPr lang="fr-FR" dirty="0"/>
          </a:p>
          <a:p>
            <a:endParaRPr lang="fr-FR" dirty="0"/>
          </a:p>
        </p:txBody>
      </p:sp>
      <p:pic>
        <p:nvPicPr>
          <p:cNvPr id="5" name="Image 4" descr="Une image contenant diagramme, ligne, Rectangl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4B83DFEC-C0C5-8F1A-C5B5-4B737A5AAC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7348" y="2538828"/>
            <a:ext cx="4277322" cy="2753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317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98623-FC1A-7651-DEA6-010B9E55D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4E28414-E668-EFED-379A-F0C275DE0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Principes mathématiques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FC23445-BD42-09A9-2C4F-471C6DE930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Fonctionnement du LSTM : </a:t>
            </a:r>
          </a:p>
          <a:p>
            <a:endParaRPr lang="fr-FR" dirty="0"/>
          </a:p>
          <a:p>
            <a:r>
              <a:rPr lang="fr-FR" dirty="0"/>
              <a:t>Couche « Sélection des valeurs»</a:t>
            </a:r>
          </a:p>
          <a:p>
            <a:endParaRPr lang="fr-FR" dirty="0"/>
          </a:p>
          <a:p>
            <a:endParaRPr lang="fr-FR" dirty="0"/>
          </a:p>
        </p:txBody>
      </p:sp>
      <p:pic>
        <p:nvPicPr>
          <p:cNvPr id="6" name="Image 5" descr="Une image contenant diagramme, Rectangle, ligne, croquis&#10;&#10;Le contenu généré par l’IA peut être incorrect.">
            <a:extLst>
              <a:ext uri="{FF2B5EF4-FFF2-40B4-BE49-F238E27FC236}">
                <a16:creationId xmlns:a16="http://schemas.microsoft.com/office/drawing/2014/main" id="{E329F2E8-43CC-2DFF-89D0-5239011F12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506" y="2432227"/>
            <a:ext cx="4572638" cy="2791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29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05D4E-415A-92D1-151E-82E0CA0F3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81B525-1E2F-D4B5-8305-C5D6F5198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Principes mathématiques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F5A27EC-B147-DDB9-5156-8143667E63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Fonctionnement du LSTM : </a:t>
            </a:r>
          </a:p>
          <a:p>
            <a:endParaRPr lang="fr-FR" dirty="0"/>
          </a:p>
          <a:p>
            <a:r>
              <a:rPr lang="fr-FR" dirty="0"/>
              <a:t>Couche « Mise à jour des valeurs»</a:t>
            </a:r>
          </a:p>
          <a:p>
            <a:endParaRPr lang="fr-FR" dirty="0"/>
          </a:p>
          <a:p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86EBC9D-276A-89BE-B99F-14F2489895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80506" y="2464932"/>
            <a:ext cx="4572638" cy="2725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172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38A0E-8389-6D34-7AB7-D7280B2C8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044058-1660-2911-4D1D-8229FEAEA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Principes mathématiques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6CD5CAE-A665-F58F-B599-B6765587C8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Fonctionnement du LSTM : </a:t>
            </a:r>
          </a:p>
          <a:p>
            <a:endParaRPr lang="fr-FR" dirty="0"/>
          </a:p>
          <a:p>
            <a:r>
              <a:rPr lang="fr-FR" dirty="0"/>
              <a:t>Couche « Export des valeurs»</a:t>
            </a:r>
          </a:p>
          <a:p>
            <a:endParaRPr lang="fr-FR" dirty="0"/>
          </a:p>
          <a:p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90E7999D-BB7F-A905-28AC-3AB1DEE5D6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13263" y="2464932"/>
            <a:ext cx="4107124" cy="2725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7630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1B2EF-CD1F-4746-A052-020C8B570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7A767E-B52E-B468-AD74-E4A0E9A12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Principes mathématiques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6069F35-9A14-2DFF-40AD-D456F4D8B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Autres fonctions mathématiques impliquées :</a:t>
            </a:r>
          </a:p>
          <a:p>
            <a:endParaRPr lang="fr-FR" dirty="0"/>
          </a:p>
          <a:p>
            <a:r>
              <a:rPr lang="fr-FR" dirty="0" err="1"/>
              <a:t>Loss</a:t>
            </a:r>
            <a:r>
              <a:rPr lang="fr-FR" dirty="0"/>
              <a:t> : </a:t>
            </a:r>
          </a:p>
          <a:p>
            <a:endParaRPr lang="fr-FR" dirty="0"/>
          </a:p>
          <a:p>
            <a:r>
              <a:rPr lang="fr-FR" dirty="0"/>
              <a:t>Probabilités : Couche drop out</a:t>
            </a:r>
          </a:p>
          <a:p>
            <a:endParaRPr lang="fr-FR" dirty="0"/>
          </a:p>
          <a:p>
            <a:r>
              <a:rPr lang="fr-FR" dirty="0"/>
              <a:t>Linéarité : Fonction linéaire appliquée aux valeurs pour les convertir en probabilités</a:t>
            </a:r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BA9BB4B-1D1A-359B-CFFC-0727A92D59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7158" y="2905385"/>
            <a:ext cx="7173326" cy="619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8573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DCE1DB-F35D-E4C0-81E7-1D1009647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implémentation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0D10CE0-37F3-378B-1CC7-A371AC9105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 err="1"/>
              <a:t>Dataset</a:t>
            </a:r>
            <a:r>
              <a:rPr lang="fr-FR" dirty="0"/>
              <a:t> et vocabulaire construits et stockés localement</a:t>
            </a:r>
          </a:p>
          <a:p>
            <a:endParaRPr lang="fr-FR" dirty="0"/>
          </a:p>
          <a:p>
            <a:r>
              <a:rPr lang="fr-FR" dirty="0"/>
              <a:t>LSTM et ses méthodes définis dans une classe</a:t>
            </a:r>
          </a:p>
          <a:p>
            <a:endParaRPr lang="fr-FR" dirty="0"/>
          </a:p>
          <a:p>
            <a:r>
              <a:rPr lang="fr-FR" dirty="0"/>
              <a:t>Fonction d’entrainement du modèle</a:t>
            </a:r>
          </a:p>
          <a:p>
            <a:endParaRPr lang="fr-FR" dirty="0"/>
          </a:p>
          <a:p>
            <a:r>
              <a:rPr lang="fr-FR" dirty="0"/>
              <a:t>Script pour générer du texte, selon plusieurs modes : </a:t>
            </a:r>
            <a:r>
              <a:rPr lang="fr-FR" dirty="0" err="1"/>
              <a:t>greedy</a:t>
            </a:r>
            <a:r>
              <a:rPr lang="fr-FR" dirty="0"/>
              <a:t>, sampling</a:t>
            </a:r>
          </a:p>
          <a:p>
            <a:endParaRPr lang="fr-FR" dirty="0"/>
          </a:p>
          <a:p>
            <a:r>
              <a:rPr lang="fr-FR" dirty="0"/>
              <a:t>Métriques pour évaluer les performances du modèle : Diversity, </a:t>
            </a:r>
            <a:r>
              <a:rPr lang="fr-FR" dirty="0" err="1"/>
              <a:t>perplexity</a:t>
            </a:r>
            <a:r>
              <a:rPr lang="fr-FR" dirty="0"/>
              <a:t>, </a:t>
            </a:r>
            <a:r>
              <a:rPr lang="fr-FR" dirty="0" err="1"/>
              <a:t>loss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802282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F29FC5-E10D-B757-90B6-F8F0D3B88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Résultats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D3587A05-5AE3-719A-B5BD-829228C55C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8215" y="3280736"/>
            <a:ext cx="7895565" cy="3039728"/>
          </a:xfr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38B884D6-4112-272F-8497-A001C9555A63}"/>
              </a:ext>
            </a:extLst>
          </p:cNvPr>
          <p:cNvSpPr txBox="1"/>
          <p:nvPr/>
        </p:nvSpPr>
        <p:spPr>
          <a:xfrm>
            <a:off x="2963690" y="2345903"/>
            <a:ext cx="62646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Evolution de la </a:t>
            </a:r>
            <a:r>
              <a:rPr lang="fr-FR" dirty="0" err="1"/>
              <a:t>loss</a:t>
            </a:r>
            <a:r>
              <a:rPr lang="fr-FR" dirty="0"/>
              <a:t> et de la perplexité pour un modèle entrainé sur </a:t>
            </a:r>
            <a:r>
              <a:rPr lang="fr-FR" i="1" dirty="0"/>
              <a:t>Frankenstein</a:t>
            </a:r>
            <a:r>
              <a:rPr lang="fr-FR" dirty="0"/>
              <a:t> durant 30 </a:t>
            </a:r>
            <a:r>
              <a:rPr lang="fr-FR" dirty="0" err="1"/>
              <a:t>epochs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873550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B52C8-7218-8C78-83F6-CA198B2A3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A00EEA-C302-503C-FFAF-817DA8799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Résultats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9711514-0949-CD3A-D21D-2F580A330F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7625" y="2316317"/>
            <a:ext cx="9316750" cy="3562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6266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F07894-F205-5A75-35D7-A09DB48D6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résultats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074C5BD-77AF-9B54-C369-481E96C02F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Exemples de phrases générés avec la </a:t>
            </a:r>
            <a:r>
              <a:rPr lang="fr-FR" dirty="0" err="1"/>
              <a:t>seed</a:t>
            </a:r>
            <a:r>
              <a:rPr lang="fr-FR" dirty="0"/>
              <a:t> « </a:t>
            </a:r>
            <a:r>
              <a:rPr lang="fr-FR" dirty="0" err="1"/>
              <a:t>After</a:t>
            </a:r>
            <a:r>
              <a:rPr lang="fr-FR" dirty="0"/>
              <a:t> </a:t>
            </a:r>
            <a:r>
              <a:rPr lang="fr-FR" dirty="0" err="1"/>
              <a:t>arriving</a:t>
            </a:r>
            <a:r>
              <a:rPr lang="fr-FR" dirty="0"/>
              <a:t> in Geneva » :</a:t>
            </a:r>
          </a:p>
          <a:p>
            <a:endParaRPr lang="fr-FR" dirty="0"/>
          </a:p>
          <a:p>
            <a:r>
              <a:rPr lang="fr-FR" dirty="0"/>
              <a:t>Méthode Sampling (t = 1.2)</a:t>
            </a:r>
          </a:p>
          <a:p>
            <a:pPr marL="0" indent="0">
              <a:buNone/>
            </a:pPr>
            <a:r>
              <a:rPr lang="en-US" sz="1800" dirty="0"/>
              <a:t>After arriving in Geneva, which Felix “and any fiend thou glad however, with degrees I continued where order at his experience of his animation, was an branches, for which that he uttered often appeared</a:t>
            </a:r>
          </a:p>
          <a:p>
            <a:pPr marL="0" indent="0">
              <a:buNone/>
            </a:pPr>
            <a:endParaRPr lang="en-US" sz="1800" dirty="0"/>
          </a:p>
          <a:p>
            <a:r>
              <a:rPr lang="fr-FR" dirty="0"/>
              <a:t>Méthode Sampling (t = 0.3)</a:t>
            </a:r>
          </a:p>
          <a:p>
            <a:pPr marL="0" indent="0">
              <a:buNone/>
            </a:pPr>
            <a:r>
              <a:rPr lang="en-US" sz="1800" dirty="0"/>
              <a:t>After arriving in Geneva, so long a small “Justine Moritz! Poor, poor girl, is more wonderful and irreparable. but a thousand times arose and the springing of the old scene of ice. poets. There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745279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62EDA8-20BA-71FB-38CA-964FDA8FC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conclusion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338AEFC-7B66-00C3-DE5F-F6A36A93A6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758765"/>
            <a:ext cx="10820400" cy="2484444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Modèle satisfaisant pour générer des textes dans un style soutenu.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Perspectives d’améliorations :</a:t>
            </a:r>
          </a:p>
          <a:p>
            <a:r>
              <a:rPr lang="fr-FR" dirty="0"/>
              <a:t>Régler le calcul de la </a:t>
            </a:r>
            <a:r>
              <a:rPr lang="fr-FR" dirty="0" err="1"/>
              <a:t>loss</a:t>
            </a:r>
            <a:r>
              <a:rPr lang="fr-FR" dirty="0"/>
              <a:t> et de la </a:t>
            </a:r>
            <a:r>
              <a:rPr lang="fr-FR" dirty="0" err="1"/>
              <a:t>perplexity</a:t>
            </a:r>
            <a:endParaRPr lang="fr-FR" dirty="0"/>
          </a:p>
          <a:p>
            <a:r>
              <a:rPr lang="fr-FR" dirty="0"/>
              <a:t>Intégrer d’autres méthodes d’évaluation (Mauve)</a:t>
            </a:r>
          </a:p>
          <a:p>
            <a:endParaRPr lang="fr-FR" dirty="0"/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92068104"/>
      </p:ext>
    </p:extLst>
  </p:cSld>
  <p:clrMapOvr>
    <a:masterClrMapping/>
  </p:clrMapOvr>
</p:sld>
</file>

<file path=ppt/theme/theme1.xml><?xml version="1.0" encoding="utf-8"?>
<a:theme xmlns:a="http://schemas.openxmlformats.org/drawingml/2006/main" name="Traînée de condensation">
  <a:themeElements>
    <a:clrScheme name="Traînée de condensation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Traînée de condensation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raînée de condensation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TM04033937[[fn=Traînée de condensation]]</Template>
  <TotalTime>152</TotalTime>
  <Words>617</Words>
  <Application>Microsoft Office PowerPoint</Application>
  <PresentationFormat>Widescreen</PresentationFormat>
  <Paragraphs>111</Paragraphs>
  <Slides>12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Century Gothic</vt:lpstr>
      <vt:lpstr>Traînée de condensation</vt:lpstr>
      <vt:lpstr>Projet iaa</vt:lpstr>
      <vt:lpstr>LSTM : Générer du texte</vt:lpstr>
      <vt:lpstr>Principes mathématiques</vt:lpstr>
      <vt:lpstr>Principes mathématiques</vt:lpstr>
      <vt:lpstr>Principes mathématiques</vt:lpstr>
      <vt:lpstr>Principes mathématiques</vt:lpstr>
      <vt:lpstr>Principes mathématiques</vt:lpstr>
      <vt:lpstr>implémentation</vt:lpstr>
      <vt:lpstr>Résultats</vt:lpstr>
      <vt:lpstr>Résultats</vt:lpstr>
      <vt:lpstr>résultats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Damien</dc:creator>
  <cp:lastModifiedBy>MARGUERETTAZ Cléo</cp:lastModifiedBy>
  <cp:revision>11</cp:revision>
  <dcterms:created xsi:type="dcterms:W3CDTF">2026-01-15T12:42:40Z</dcterms:created>
  <dcterms:modified xsi:type="dcterms:W3CDTF">2026-01-16T09:02:23Z</dcterms:modified>
</cp:coreProperties>
</file>